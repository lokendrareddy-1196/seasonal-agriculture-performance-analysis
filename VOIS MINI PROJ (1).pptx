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3595" autoAdjust="0"/>
  </p:normalViewPr>
  <p:slideViewPr>
    <p:cSldViewPr snapToGrid="0">
      <p:cViewPr varScale="1">
        <p:scale>
          <a:sx n="100" d="100"/>
          <a:sy n="100" d="100"/>
        </p:scale>
        <p:origin x="72" y="1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60841" y="3733498"/>
            <a:ext cx="2995126" cy="861497"/>
          </a:xfrm>
        </p:spPr>
        <p:txBody>
          <a:bodyPr/>
          <a:lstStyle/>
          <a:p>
            <a:pPr algn="r"/>
            <a:r>
              <a:rPr lang="en-IN" b="0" dirty="0">
                <a:solidFill>
                  <a:schemeClr val="tx1"/>
                </a:solidFill>
              </a:rPr>
              <a:t>[ D A LOKENDRA REDDY ]</a:t>
            </a: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22" y="1726956"/>
            <a:ext cx="10898156" cy="646332"/>
          </a:xfrm>
        </p:spPr>
        <p:txBody>
          <a:bodyPr>
            <a:normAutofit/>
          </a:bodyPr>
          <a:lstStyle/>
          <a:p>
            <a:r>
              <a:rPr lang="en-IN" sz="3200" b="1" dirty="0"/>
              <a:t>CAR MARKET TRENDS ANALYSIS WITH CARDEKHO DATA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096000" y="2716001"/>
            <a:ext cx="5125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ID: STU6a6b6a25939401785424421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875556"/>
            <a:ext cx="7453709" cy="360798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The used-car market contains a large amount of data related to vehicle prices, age, mileage, fuel type, transmission and ownership.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It is difficult to understand how these factors influence the selling price without proper data analysis.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Therefore, this project aims to </a:t>
            </a: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dirty="0" err="1"/>
              <a:t>CarDekho</a:t>
            </a:r>
            <a:r>
              <a:rPr lang="en-IN" dirty="0"/>
              <a:t> data and identify important car market trends and pricing patterns.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8082385" cy="771660"/>
          </a:xfrm>
        </p:spPr>
        <p:txBody>
          <a:bodyPr>
            <a:normAutofit fontScale="90000"/>
          </a:bodyPr>
          <a:lstStyle/>
          <a:p>
            <a:r>
              <a:rPr lang="en-GB" b="0" u="sng" dirty="0"/>
              <a:t>Project Description</a:t>
            </a:r>
            <a:br>
              <a:rPr lang="en-GB" b="0" dirty="0"/>
            </a:br>
            <a:endParaRPr lang="en-IN" sz="22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F1AAF7-0424-E2D1-2CE3-57B93474774A}"/>
              </a:ext>
            </a:extLst>
          </p:cNvPr>
          <p:cNvSpPr/>
          <p:nvPr/>
        </p:nvSpPr>
        <p:spPr>
          <a:xfrm>
            <a:off x="7025951" y="1719410"/>
            <a:ext cx="2640563" cy="378565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err="1"/>
              <a:t>CarDekho</a:t>
            </a:r>
            <a:r>
              <a:rPr lang="en-IN" dirty="0"/>
              <a:t> Dataset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Data Cleaning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Data Analysis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Visualization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Market Insights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062DD2-8981-2A9D-1909-B825A55C2A35}"/>
              </a:ext>
            </a:extLst>
          </p:cNvPr>
          <p:cNvSpPr txBox="1"/>
          <p:nvPr/>
        </p:nvSpPr>
        <p:spPr>
          <a:xfrm>
            <a:off x="354564" y="1719410"/>
            <a:ext cx="599025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This project </a:t>
            </a:r>
            <a:r>
              <a:rPr lang="en-IN" sz="2000" dirty="0" err="1"/>
              <a:t>analyzes</a:t>
            </a:r>
            <a:r>
              <a:rPr lang="en-IN" sz="2000" dirty="0"/>
              <a:t> used-car data from </a:t>
            </a:r>
            <a:r>
              <a:rPr lang="en-IN" sz="2000" dirty="0" err="1"/>
              <a:t>CarDekho</a:t>
            </a:r>
            <a:r>
              <a:rPr lang="en-IN" sz="2000" dirty="0"/>
              <a:t> using Python-based data analytics techniques.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The dataset is cleaned and explored to understand relationships between selling price and factors such </a:t>
            </a:r>
            <a:r>
              <a:rPr lang="en-IN" sz="2000" dirty="0" err="1"/>
              <a:t>as:Car</a:t>
            </a:r>
            <a:r>
              <a:rPr lang="en-IN" sz="2000" dirty="0"/>
              <a:t> year, </a:t>
            </a:r>
            <a:r>
              <a:rPr lang="en-IN" sz="2000" dirty="0" err="1"/>
              <a:t>price,Kilometres</a:t>
            </a:r>
            <a:r>
              <a:rPr lang="en-IN" sz="2000" dirty="0"/>
              <a:t> </a:t>
            </a:r>
            <a:r>
              <a:rPr lang="en-IN" sz="2000" dirty="0" err="1"/>
              <a:t>driven,Fuel</a:t>
            </a:r>
            <a:r>
              <a:rPr lang="en-IN" sz="2000" dirty="0"/>
              <a:t> </a:t>
            </a:r>
            <a:r>
              <a:rPr lang="en-IN" sz="2000" dirty="0" err="1"/>
              <a:t>type,Seller</a:t>
            </a:r>
            <a:r>
              <a:rPr lang="en-IN" sz="2000" dirty="0"/>
              <a:t> type etc.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Data visualization is used to identify market trends and generate meaningful insigh</a:t>
            </a:r>
            <a:r>
              <a:rPr lang="en-IN" dirty="0"/>
              <a:t>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600" b="1" dirty="0"/>
              <a:t>Primary End Users</a:t>
            </a:r>
          </a:p>
          <a:p>
            <a:pPr lvl="0"/>
            <a:r>
              <a:rPr lang="en-IN" sz="3600" dirty="0"/>
              <a:t>Used-car buyers </a:t>
            </a:r>
          </a:p>
          <a:p>
            <a:pPr lvl="0"/>
            <a:r>
              <a:rPr lang="en-IN" sz="3600" dirty="0"/>
              <a:t>Car dealers </a:t>
            </a:r>
          </a:p>
          <a:p>
            <a:pPr lvl="0"/>
            <a:r>
              <a:rPr lang="en-IN" sz="3600" dirty="0"/>
              <a:t>Car resale businesses </a:t>
            </a:r>
          </a:p>
          <a:p>
            <a:pPr lvl="0"/>
            <a:r>
              <a:rPr lang="en-IN" sz="3600" dirty="0"/>
              <a:t>Market analysts </a:t>
            </a:r>
          </a:p>
          <a:p>
            <a:pPr lvl="0"/>
            <a:r>
              <a:rPr lang="en-IN" sz="3600" dirty="0"/>
              <a:t>Vehicle sellers </a:t>
            </a:r>
          </a:p>
          <a:p>
            <a:pPr marL="0" indent="0">
              <a:buNone/>
            </a:pPr>
            <a:r>
              <a:rPr lang="en-IN" sz="3600" b="1" dirty="0"/>
              <a:t>Use of the project</a:t>
            </a:r>
          </a:p>
          <a:p>
            <a:r>
              <a:rPr lang="en-IN" sz="3600" dirty="0"/>
              <a:t>Helps users understand used-car pricing patterns and make better buying, selling and pricing decisions.</a:t>
            </a:r>
          </a:p>
          <a:p>
            <a:pPr marL="0" indent="0">
              <a:buNone/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432560"/>
            <a:ext cx="7640320" cy="52434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Programming Language</a:t>
            </a:r>
            <a:endParaRPr lang="en-IN" sz="2400" dirty="0"/>
          </a:p>
          <a:p>
            <a:pPr lvl="0">
              <a:lnSpc>
                <a:spcPct val="100000"/>
              </a:lnSpc>
            </a:pPr>
            <a:r>
              <a:rPr lang="en-IN" dirty="0"/>
              <a:t>Python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Libraries</a:t>
            </a:r>
            <a:endParaRPr lang="en-IN" sz="2400" dirty="0"/>
          </a:p>
          <a:p>
            <a:pPr lvl="0">
              <a:lnSpc>
                <a:spcPct val="100000"/>
              </a:lnSpc>
            </a:pPr>
            <a:r>
              <a:rPr lang="en-IN" dirty="0"/>
              <a:t>Pandas </a:t>
            </a:r>
          </a:p>
          <a:p>
            <a:pPr lvl="0">
              <a:lnSpc>
                <a:spcPct val="100000"/>
              </a:lnSpc>
            </a:pPr>
            <a:r>
              <a:rPr lang="en-IN" dirty="0"/>
              <a:t>NumPy </a:t>
            </a:r>
          </a:p>
          <a:p>
            <a:pPr lvl="0">
              <a:lnSpc>
                <a:spcPct val="100000"/>
              </a:lnSpc>
            </a:pPr>
            <a:r>
              <a:rPr lang="en-IN" dirty="0"/>
              <a:t>Matplotlib </a:t>
            </a:r>
          </a:p>
          <a:p>
            <a:pPr lvl="0">
              <a:lnSpc>
                <a:spcPct val="100000"/>
              </a:lnSpc>
            </a:pPr>
            <a:r>
              <a:rPr lang="en-IN" dirty="0"/>
              <a:t>Seaborn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Dataset</a:t>
            </a:r>
            <a:endParaRPr lang="en-IN" sz="2400" dirty="0"/>
          </a:p>
          <a:p>
            <a:pPr lvl="0">
              <a:lnSpc>
                <a:spcPct val="100000"/>
              </a:lnSpc>
            </a:pPr>
            <a:r>
              <a:rPr lang="en-IN" dirty="0" err="1"/>
              <a:t>CarDekho</a:t>
            </a:r>
            <a:r>
              <a:rPr lang="en-IN" dirty="0"/>
              <a:t> Used-Car Dataset </a:t>
            </a:r>
          </a:p>
          <a:p>
            <a:r>
              <a:rPr lang="en-IN" b="1" dirty="0"/>
              <a:t>Python → Pandas → Analysis → Visualization</a:t>
            </a:r>
            <a:endParaRPr lang="en-IN" dirty="0"/>
          </a:p>
          <a:p>
            <a:pPr lvl="0">
              <a:lnSpc>
                <a:spcPct val="10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672" y="90922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1496639" y="1738994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EFDC6-6605-4828-C91B-C3985DA27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440" y="1136954"/>
            <a:ext cx="9146073" cy="6660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sz="4000" dirty="0">
                <a:solidFill>
                  <a:schemeClr val="accent4">
                    <a:lumMod val="75000"/>
                  </a:schemeClr>
                </a:solidFill>
                <a:highlight>
                  <a:srgbClr val="C0C0C0"/>
                </a:highlight>
              </a:rPr>
              <a:t>Car Age vs Selling Price</a:t>
            </a:r>
            <a:endParaRPr lang="en-IN" sz="4000" b="1" dirty="0">
              <a:solidFill>
                <a:schemeClr val="accent4">
                  <a:lumMod val="75000"/>
                </a:schemeClr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3B0E5-5989-DDB3-36BC-4F96B8D2189B}"/>
              </a:ext>
            </a:extLst>
          </p:cNvPr>
          <p:cNvSpPr txBox="1"/>
          <p:nvPr/>
        </p:nvSpPr>
        <p:spPr>
          <a:xfrm>
            <a:off x="1917999" y="2048270"/>
            <a:ext cx="9941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                                                                          GRAPH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72E8FC-5F46-9004-F8AC-2C23870E255F}"/>
              </a:ext>
            </a:extLst>
          </p:cNvPr>
          <p:cNvSpPr txBox="1"/>
          <p:nvPr/>
        </p:nvSpPr>
        <p:spPr>
          <a:xfrm>
            <a:off x="641981" y="2480562"/>
            <a:ext cx="56793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import seaborn as </a:t>
            </a:r>
            <a:r>
              <a:rPr lang="en-IN" dirty="0" err="1"/>
              <a:t>sns</a:t>
            </a:r>
            <a:endParaRPr lang="en-IN" dirty="0"/>
          </a:p>
          <a:p>
            <a:r>
              <a:rPr lang="en-IN" dirty="0" err="1"/>
              <a:t>avg_selling_price_by_age</a:t>
            </a:r>
            <a:r>
              <a:rPr lang="en-IN" dirty="0"/>
              <a:t> = </a:t>
            </a:r>
            <a:r>
              <a:rPr lang="en-IN" dirty="0" err="1"/>
              <a:t>df.groupby</a:t>
            </a:r>
            <a:r>
              <a:rPr lang="en-IN" dirty="0"/>
              <a:t>('</a:t>
            </a:r>
            <a:r>
              <a:rPr lang="en-IN" dirty="0" err="1"/>
              <a:t>Car_Age</a:t>
            </a:r>
            <a:r>
              <a:rPr lang="en-IN" dirty="0"/>
              <a:t>')['</a:t>
            </a:r>
            <a:r>
              <a:rPr lang="en-IN" dirty="0" err="1"/>
              <a:t>Selling_Price</a:t>
            </a:r>
            <a:r>
              <a:rPr lang="en-IN" dirty="0"/>
              <a:t>'].mean().</a:t>
            </a:r>
            <a:r>
              <a:rPr lang="en-IN" dirty="0" err="1"/>
              <a:t>reset_index</a:t>
            </a:r>
            <a:r>
              <a:rPr lang="en-IN" dirty="0"/>
              <a:t>()</a:t>
            </a:r>
          </a:p>
          <a:p>
            <a:r>
              <a:rPr lang="en-IN" dirty="0" err="1"/>
              <a:t>plt.figure</a:t>
            </a:r>
            <a:r>
              <a:rPr lang="en-IN" dirty="0"/>
              <a:t>(</a:t>
            </a:r>
            <a:r>
              <a:rPr lang="en-IN" dirty="0" err="1"/>
              <a:t>figsize</a:t>
            </a:r>
            <a:r>
              <a:rPr lang="en-IN" dirty="0"/>
              <a:t>=(10, 6))</a:t>
            </a:r>
          </a:p>
          <a:p>
            <a:r>
              <a:rPr lang="en-IN" dirty="0" err="1"/>
              <a:t>sns.barplot</a:t>
            </a:r>
            <a:r>
              <a:rPr lang="en-IN" dirty="0"/>
              <a:t>(x='</a:t>
            </a:r>
            <a:r>
              <a:rPr lang="en-IN" dirty="0" err="1"/>
              <a:t>Car_Age</a:t>
            </a:r>
            <a:r>
              <a:rPr lang="en-IN" dirty="0"/>
              <a:t>', y='</a:t>
            </a:r>
            <a:r>
              <a:rPr lang="en-IN" dirty="0" err="1"/>
              <a:t>Selling_Price</a:t>
            </a:r>
            <a:r>
              <a:rPr lang="en-IN" dirty="0"/>
              <a:t>', data=</a:t>
            </a:r>
            <a:r>
              <a:rPr lang="en-IN" dirty="0" err="1"/>
              <a:t>avg_selling_price_by_age</a:t>
            </a:r>
            <a:r>
              <a:rPr lang="en-IN" dirty="0"/>
              <a:t>, palette='</a:t>
            </a:r>
            <a:r>
              <a:rPr lang="en-IN" dirty="0" err="1"/>
              <a:t>viridis</a:t>
            </a:r>
            <a:r>
              <a:rPr lang="en-IN" dirty="0"/>
              <a:t>')</a:t>
            </a:r>
          </a:p>
          <a:p>
            <a:r>
              <a:rPr lang="en-IN" dirty="0" err="1"/>
              <a:t>plt.title</a:t>
            </a:r>
            <a:r>
              <a:rPr lang="en-IN" dirty="0"/>
              <a:t>('Average Selling Price by Car Age')</a:t>
            </a:r>
          </a:p>
          <a:p>
            <a:r>
              <a:rPr lang="en-IN" dirty="0" err="1"/>
              <a:t>plt.xlabel</a:t>
            </a:r>
            <a:r>
              <a:rPr lang="en-IN" dirty="0"/>
              <a:t>('Car Age (Years)')</a:t>
            </a:r>
          </a:p>
          <a:p>
            <a:r>
              <a:rPr lang="en-IN" dirty="0" err="1"/>
              <a:t>plt.ylabel</a:t>
            </a:r>
            <a:r>
              <a:rPr lang="en-IN" dirty="0"/>
              <a:t>('Average Selling Price')</a:t>
            </a:r>
          </a:p>
          <a:p>
            <a:r>
              <a:rPr lang="en-IN" dirty="0" err="1"/>
              <a:t>plt.grid</a:t>
            </a:r>
            <a:r>
              <a:rPr lang="en-IN" dirty="0"/>
              <a:t>(axis='y', </a:t>
            </a:r>
            <a:r>
              <a:rPr lang="en-IN" dirty="0" err="1"/>
              <a:t>linestyle</a:t>
            </a:r>
            <a:r>
              <a:rPr lang="en-IN" dirty="0"/>
              <a:t>='--', alpha=0.7)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FD0DB0B-183D-74DC-8035-597AEBBD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730" y="2585512"/>
            <a:ext cx="5300903" cy="3483418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0259A13-4701-3D9C-97BA-DFC0FDAAD50A}"/>
              </a:ext>
            </a:extLst>
          </p:cNvPr>
          <p:cNvGraphicFramePr>
            <a:graphicFrameLocks noGrp="1"/>
          </p:cNvGraphicFramePr>
          <p:nvPr/>
        </p:nvGraphicFramePr>
        <p:xfrm>
          <a:off x="646043" y="2534478"/>
          <a:ext cx="5575853" cy="3677479"/>
        </p:xfrm>
        <a:graphic>
          <a:graphicData uri="http://schemas.openxmlformats.org/drawingml/2006/table">
            <a:tbl>
              <a:tblPr/>
              <a:tblGrid>
                <a:gridCol w="5575853">
                  <a:extLst>
                    <a:ext uri="{9D8B030D-6E8A-4147-A177-3AD203B41FA5}">
                      <a16:colId xmlns:a16="http://schemas.microsoft.com/office/drawing/2014/main" val="2015137605"/>
                    </a:ext>
                  </a:extLst>
                </a:gridCol>
              </a:tblGrid>
              <a:tr h="367747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81830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4A407C2-8E2B-D2BE-9446-CB1FFF8086BE}"/>
              </a:ext>
            </a:extLst>
          </p:cNvPr>
          <p:cNvGraphicFramePr>
            <a:graphicFrameLocks noGrp="1"/>
          </p:cNvGraphicFramePr>
          <p:nvPr/>
        </p:nvGraphicFramePr>
        <p:xfrm>
          <a:off x="6748670" y="2584174"/>
          <a:ext cx="5208104" cy="3558209"/>
        </p:xfrm>
        <a:graphic>
          <a:graphicData uri="http://schemas.openxmlformats.org/drawingml/2006/table">
            <a:tbl>
              <a:tblPr/>
              <a:tblGrid>
                <a:gridCol w="5208104">
                  <a:extLst>
                    <a:ext uri="{9D8B030D-6E8A-4147-A177-3AD203B41FA5}">
                      <a16:colId xmlns:a16="http://schemas.microsoft.com/office/drawing/2014/main" val="360171484"/>
                    </a:ext>
                  </a:extLst>
                </a:gridCol>
              </a:tblGrid>
              <a:tr h="355820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164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"/>
            <a:ext cx="6778391" cy="785190"/>
          </a:xfrm>
        </p:spPr>
        <p:txBody>
          <a:bodyPr>
            <a:normAutofit fontScale="90000"/>
          </a:bodyPr>
          <a:lstStyle/>
          <a:p>
            <a:r>
              <a:rPr lang="en-GB" dirty="0"/>
              <a:t>              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13780" y="820793"/>
            <a:ext cx="6074229" cy="477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4">
                    <a:lumMod val="75000"/>
                  </a:schemeClr>
                </a:solidFill>
                <a:highlight>
                  <a:srgbClr val="C0C0C0"/>
                </a:highlight>
              </a:rPr>
              <a:t>Kms Driven vs Selling Price</a:t>
            </a:r>
            <a:r>
              <a:rPr lang="en-IN" dirty="0">
                <a:highlight>
                  <a:srgbClr val="C0C0C0"/>
                </a:highlight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3E0BE-10A6-E11E-63DC-D3F136109ABA}"/>
              </a:ext>
            </a:extLst>
          </p:cNvPr>
          <p:cNvSpPr txBox="1"/>
          <p:nvPr/>
        </p:nvSpPr>
        <p:spPr>
          <a:xfrm>
            <a:off x="1153606" y="1377577"/>
            <a:ext cx="8546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                                                                        GRAPH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6823A0C-B813-6494-3E2E-9D135576B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49" y="1941448"/>
            <a:ext cx="4531642" cy="458098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2882F42-4486-85E0-8FC9-3E7A28BA0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470" y="2036281"/>
            <a:ext cx="5061768" cy="4096162"/>
          </a:xfrm>
          <a:prstGeom prst="rect">
            <a:avLst/>
          </a:prstGeom>
        </p:spPr>
      </p:pic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3EBBC11-94F1-266B-1C43-8C9501D1DE55}"/>
              </a:ext>
            </a:extLst>
          </p:cNvPr>
          <p:cNvGraphicFramePr>
            <a:graphicFrameLocks noGrp="1"/>
          </p:cNvGraphicFramePr>
          <p:nvPr/>
        </p:nvGraphicFramePr>
        <p:xfrm>
          <a:off x="367748" y="1868557"/>
          <a:ext cx="4522304" cy="4572000"/>
        </p:xfrm>
        <a:graphic>
          <a:graphicData uri="http://schemas.openxmlformats.org/drawingml/2006/table">
            <a:tbl>
              <a:tblPr/>
              <a:tblGrid>
                <a:gridCol w="4522304">
                  <a:extLst>
                    <a:ext uri="{9D8B030D-6E8A-4147-A177-3AD203B41FA5}">
                      <a16:colId xmlns:a16="http://schemas.microsoft.com/office/drawing/2014/main" val="3529965027"/>
                    </a:ext>
                  </a:extLst>
                </a:gridCol>
              </a:tblGrid>
              <a:tr h="45720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63483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268A6AA-410F-3B59-AF43-F03F001782F5}"/>
              </a:ext>
            </a:extLst>
          </p:cNvPr>
          <p:cNvGraphicFramePr>
            <a:graphicFrameLocks noGrp="1"/>
          </p:cNvGraphicFramePr>
          <p:nvPr/>
        </p:nvGraphicFramePr>
        <p:xfrm>
          <a:off x="6231835" y="2057400"/>
          <a:ext cx="5088835" cy="4094922"/>
        </p:xfrm>
        <a:graphic>
          <a:graphicData uri="http://schemas.openxmlformats.org/drawingml/2006/table">
            <a:tbl>
              <a:tblPr/>
              <a:tblGrid>
                <a:gridCol w="5088835">
                  <a:extLst>
                    <a:ext uri="{9D8B030D-6E8A-4147-A177-3AD203B41FA5}">
                      <a16:colId xmlns:a16="http://schemas.microsoft.com/office/drawing/2014/main" val="3578665527"/>
                    </a:ext>
                  </a:extLst>
                </a:gridCol>
              </a:tblGrid>
              <a:tr h="40949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851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49226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768</TotalTime>
  <Words>372</Words>
  <Application>Microsoft Office PowerPoint</Application>
  <PresentationFormat>Widescreen</PresentationFormat>
  <Paragraphs>64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CAR MARKET TRENDS ANALYSIS WITH CARDEKHO DATA</vt:lpstr>
      <vt:lpstr>PROBLEM  STATEMENT</vt:lpstr>
      <vt:lpstr>Project Description </vt:lpstr>
      <vt:lpstr>WHO ARE THE END USERS?</vt:lpstr>
      <vt:lpstr>Technology Used</vt:lpstr>
      <vt:lpstr>RESULTS </vt:lpstr>
      <vt:lpstr>              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lokendra reddy</cp:lastModifiedBy>
  <cp:revision>80</cp:revision>
  <dcterms:created xsi:type="dcterms:W3CDTF">2021-07-11T13:13:15Z</dcterms:created>
  <dcterms:modified xsi:type="dcterms:W3CDTF">2026-08-31T17:00:48Z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